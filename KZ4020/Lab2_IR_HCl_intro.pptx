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Rovibrational spectroscopy overview and branch naming (P/R): https://chem.libretexts.org/Bookshelves/Physical_and_Theoretical_Chemistry_Textbook_Maps/Supplemental_Modules_%28Physical_and_Theoretical_Chemistry%29/Spectroscopy/Rotational_Spectroscopy/Rovibrational_Spectroscopy
[/Sources]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IR activity and rovibrational transitions overview: https://en.wikipedia.org/wiki/Rotational%E2%80%93vibrational_spectroscopy
[/Sources]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Rigid rotor energy levels and relation to moment of inertia: https://vallance.chem.ox.ac.uk/pdfs/MolecularEnergyLevelsNotes.pdf
[/Sources]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Rovibrational spectroscopy background (selection rules and energy spacing discussion): https://chem.libretexts.org/Bookshelves/Physical_and_Theoretical_Chemistry_Textbook_Maps/Supplemental_Modules_%28Physical_and_Theoretical_Chemistry%29/Spectroscopy/Rotational_Spectroscopy/Rovibrational_Spectroscopy
[/Sources]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P/R branch definition and ΔJ selection rules: https://chem.libretexts.org/Bookshelves/Physical_and_Theoretical_Chemistry_Textbook_Maps/Supplemental_Modules_%28Physical_and_Theoretical_Chemistry%29/Spectroscopy/Rotational_Spectroscopy/Rovibrational_Spectroscopy
- Alternative concise statement of rovibrational selection rules: https://www2.sci.u-szeged.hu/physchem/indexh_html_files/FTIR_eng.pdf
[/Sources]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Rovibrational constants including B_v = B_e - α_e(v+1/2): https://dpotoyan.github.io/Chem324/ch04/note04B.html
- Discussion of centrifugal distortion as bond stretching at high J: https://www.pci.tu-bs.de/aggericke/PC4e/Kap_III/Rot-Vib-Spektren.htm
[/Sources]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Branch labeling and use of lower-state J for line labels: https://chem.libretexts.org/Bookshelves/Physical_and_Theoretical_Chemistry_Textbook_Maps/Supplemental_Modules_%28Physical_and_Theoretical_Chemistry%29/Spectroscopy/Rotational_Spectroscopy/Rovibrational_Spectroscopy
[/Sources]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Rovibrational selection rules and branch structure overview (context for analysis pipeline): https://chem.libretexts.org/Bookshelves/Physical_and_Theoretical_Chemistry_Textbook_Maps/Supplemental_Modules_%28Physical_and_Theoretical_Chemistry%29/Spectroscopy/Rotational_Spectroscopy/Rovibrational_Spectroscopy
[/Sources]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2920" y="11430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Spectroscopy of HCl Gas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rovibrational lines → molecular constants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2834640"/>
            <a:ext cx="3611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9050" dir="27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301752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31520" y="3401568"/>
            <a:ext cx="3154680" cy="2743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566160"/>
            <a:ext cx="3063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positions (P/R branches)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 origin ν̃₀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34840" y="2834640"/>
            <a:ext cx="3611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9050" dir="27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301752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663440" y="3401568"/>
            <a:ext cx="3154680" cy="2743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3566160"/>
            <a:ext cx="3063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Quadratic model in m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ν̃₀, B̃₀, B̃₁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366760" y="2834640"/>
            <a:ext cx="3611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9050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595360" y="301752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595360" y="3401568"/>
            <a:ext cx="3154680" cy="2743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0" y="3566160"/>
            <a:ext cx="3063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lengths r₀, r₁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Anharmonicity xₑ and D₀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" y="6565392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analysis of a provided FTIR spectrum (HCl is corrosive — no handling in this session)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9728"/>
            <a:ext cx="11155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picture: what IR rovibrational spectroscopy measures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parts of the EM spectrum probe different molecular motions: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389888"/>
            <a:ext cx="3520440" cy="960120"/>
          </a:xfrm>
          <a:prstGeom prst="rect">
            <a:avLst/>
          </a:prstGeom>
          <a:solidFill>
            <a:srgbClr val="C7D2FE"/>
          </a:solidFill>
          <a:ln>
            <a:solidFill>
              <a:srgbClr val="CBD5E1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UV/Vis
</a:t>
            </a:r>
            <a:pPr algn="ctr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663440" y="1389888"/>
            <a:ext cx="3520440" cy="960120"/>
          </a:xfrm>
          <a:prstGeom prst="rect">
            <a:avLst/>
          </a:prstGeom>
          <a:solidFill>
            <a:srgbClr val="99F6E4"/>
          </a:solidFill>
          <a:ln>
            <a:solidFill>
              <a:srgbClr val="CBD5E1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
</a:t>
            </a:r>
            <a:pPr algn="ctr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vibrational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595360" y="1389888"/>
            <a:ext cx="3520440" cy="960120"/>
          </a:xfrm>
          <a:prstGeom prst="rect">
            <a:avLst/>
          </a:prstGeom>
          <a:solidFill>
            <a:srgbClr val="E0E7FF"/>
          </a:solidFill>
          <a:ln>
            <a:solidFill>
              <a:srgbClr val="CBD5E1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Microwave
</a:t>
            </a:r>
            <a:pPr algn="ctr"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rotational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731520" y="2514600"/>
            <a:ext cx="5577840" cy="3566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788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lab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51560" y="333756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absorption excites vibration, and rotation comes along for the ride → a rovibrational band.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51560" y="43434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IR-active requirement: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46634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permanent (or vibration-induced) dipole moment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HCl is IR active.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51560" y="54406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molecular constants from line positions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583680" y="2514600"/>
            <a:ext cx="493776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12280" y="2743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see</a:t>
            </a:r>
            <a:endParaRPr lang="en-US" sz="1800" dirty="0"/>
          </a:p>
        </p:txBody>
      </p:sp>
      <p:pic>
        <p:nvPicPr>
          <p:cNvPr id="16" name="Image 0" descr="/mnt/data/lab2_spect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6590" y="3108960"/>
            <a:ext cx="4183380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9728"/>
            <a:ext cx="11155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1: rigid rotor (rotation)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rotation levels depend on the moment of inertia, so measuring B̃ gives bond length.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5394960" cy="5074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373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equations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40180" y="2148840"/>
            <a:ext cx="4023360" cy="54864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09550" y="2788920"/>
            <a:ext cx="1284620" cy="54864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55174" y="3429000"/>
            <a:ext cx="1393371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05840" y="40690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extract from the spectrum:</a:t>
            </a:r>
            <a:endParaRPr lang="en-US" sz="1600" dirty="0"/>
          </a:p>
        </p:txBody>
      </p:sp>
      <p:sp>
        <p:nvSpPr>
          <p:cNvPr id="11" name="Text 6"/>
          <p:cNvSpPr/>
          <p:nvPr/>
        </p:nvSpPr>
        <p:spPr>
          <a:xfrm>
            <a:off x="1188720" y="4389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B̃ → r (via I = μr²)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6492240" y="1508760"/>
            <a:ext cx="498348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/mnt/data/lab2_rotati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2476500"/>
            <a:ext cx="4709160" cy="3139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9728"/>
            <a:ext cx="11155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2: harmonic oscillator (vibration)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IR excites vibration. In the harmonic model, level spacing is constant.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5394960" cy="5074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373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equations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34490" y="2148840"/>
            <a:ext cx="3634740" cy="59436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82685" y="2834640"/>
            <a:ext cx="1138351" cy="594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37490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diatomic rovibrational band: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005840" y="4069080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band is centered near the vibrational wavenumber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Rotational structure splits it into many lines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492240" y="1508760"/>
            <a:ext cx="498348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8000"/>
              </a:srgbClr>
            </a:outerShdw>
          </a:effectLst>
        </p:spPr>
      </p:sp>
      <p:pic>
        <p:nvPicPr>
          <p:cNvPr id="12" name="Image 2" descr="/mnt/data/lab2_vibrati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2476500"/>
            <a:ext cx="4709160" cy="3139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9728"/>
            <a:ext cx="11155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rules → P and R branches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5394960" cy="1965960"/>
          </a:xfrm>
          <a:prstGeom prst="rect">
            <a:avLst/>
          </a:prstGeom>
          <a:solidFill>
            <a:srgbClr val="F8FAFC"/>
          </a:solidFill>
          <a:ln>
            <a:solidFill>
              <a:srgbClr val="E5E7EB"/>
            </a:solidFill>
          </a:ln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 band (dominant)
</a:t>
            </a:r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Δv = +1,  ΔJ = ±1
</a:t>
            </a:r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branch:  ΔJ = +1  (m &gt; 0)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branch:  ΔJ = -1  (m &lt; 0)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92240" y="960120"/>
            <a:ext cx="4983480" cy="5623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8000"/>
              </a:srgbClr>
            </a:outerShdw>
          </a:effectLst>
        </p:spPr>
      </p:sp>
      <p:pic>
        <p:nvPicPr>
          <p:cNvPr id="6" name="Image 0" descr="/mnt/data/lab2_spect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2156460"/>
            <a:ext cx="4709160" cy="31394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06324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 origin ν̃₀ is at m = 0 (no Q-branch line)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" y="37033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Intensities follow the Boltzmann population of the lower J levels.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9728"/>
            <a:ext cx="11155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 used in the lab (and one we neglect)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960120"/>
            <a:ext cx="5669280" cy="5623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1430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improve the simplest model by adding: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155448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Anharmonicity (spacing decreases with 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Vibration–rotation coupling (B̃ decreases with v)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3317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forms you will use: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60120" y="2786995"/>
            <a:ext cx="5349240" cy="50677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8063" y="3474720"/>
            <a:ext cx="4853354" cy="6858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005840" y="4343400"/>
            <a:ext cx="5303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1234440" y="44805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neglect: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1234440" y="47548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Centrifugal distortion (small at low–moderate J)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629400" y="960120"/>
            <a:ext cx="4800600" cy="5623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8000"/>
              </a:srgbClr>
            </a:outerShdw>
          </a:effectLst>
        </p:spPr>
      </p:sp>
      <p:pic>
        <p:nvPicPr>
          <p:cNvPr id="14" name="Image 2" descr="/mnt/data/lab2_anharmoni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2263140"/>
            <a:ext cx="452628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9728"/>
            <a:ext cx="11155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analysis: fit line positions in a single variable (m)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assign peaks, then fit ν̃ vs m to a quadratic.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1143000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" y="1651768"/>
            <a:ext cx="10972800" cy="7655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2880360"/>
            <a:ext cx="56692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005840" y="30632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definition (use lower-state J'')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05840" y="342900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R(J''):   m = J'' + 1    (m = +1, +2, …)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P(J''):   m = −J''       (m = −1, −2, …)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31520" y="5074920"/>
            <a:ext cx="5669280" cy="150876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52578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mix isotopologues in one fit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005840" y="557784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line often appears as two close lines (H³⁵Cl and H³⁷Cl).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one series at a time (or fit both separately).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629400" y="2880360"/>
            <a:ext cx="4800600" cy="3703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6000"/>
              </a:srgbClr>
            </a:outerShdw>
          </a:effectLst>
        </p:spPr>
      </p:sp>
      <p:pic>
        <p:nvPicPr>
          <p:cNvPr id="14" name="Image 1" descr="/mnt/data/lab2_spectru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3223260"/>
            <a:ext cx="452628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9728"/>
            <a:ext cx="11155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from lines to structure and energetics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(everything comes from your fitted ν̃₀, B̃₀, B̃₁)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1874520" cy="11430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3736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peaks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(P/R branches)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350008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line positions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651760" y="1984248"/>
            <a:ext cx="228600" cy="320040"/>
          </a:xfrm>
          <a:prstGeom prst="rightArrow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26080" y="1600200"/>
            <a:ext cx="1874520" cy="114300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63240" y="173736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Quadratic fit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ν̃(m)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063240" y="2350008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ν̃₀, B̃₀, B̃₁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1984248"/>
            <a:ext cx="228600" cy="320040"/>
          </a:xfrm>
          <a:prstGeom prst="rightArrow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20640" y="1600200"/>
            <a:ext cx="1874520" cy="114300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57800" y="173736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lengths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r₀, r₁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257800" y="2350008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B̃ → I → 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040880" y="1984248"/>
            <a:ext cx="228600" cy="320040"/>
          </a:xfrm>
          <a:prstGeom prst="rightArrow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0" y="1600200"/>
            <a:ext cx="1874520" cy="11430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52360" y="173736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Anharmonicity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xₑ and ν̃ₑ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452360" y="2350008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overtone info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235440" y="1984248"/>
            <a:ext cx="228600" cy="320040"/>
          </a:xfrm>
          <a:prstGeom prst="rightArrow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09760" y="1600200"/>
            <a:ext cx="1874520" cy="11430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46920" y="173736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Dissociation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D₀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46920" y="2350008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from xₑ, ν̃ₑ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3063240"/>
            <a:ext cx="1143000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32918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things to keep you out of trouble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05840" y="3703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Use consistent units (cm⁻¹ for ν̃ and B̃; convert to m⁻¹ only inside the r formula).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Report uncertainties or at least comment on fit residuals and which lines you trusted.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05840" y="4754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stretch: compare H³⁵Cl vs H³⁷Cl trends (μ changes → B̃ and ν̃ shift).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2026-02-04T10:55:29Z</dcterms:created>
  <dcterms:modified xsi:type="dcterms:W3CDTF">2026-02-04T10:55:29Z</dcterms:modified>
</cp:coreProperties>
</file>