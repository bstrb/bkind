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648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Rovibrational spectroscopy overview and branch naming (P/R): https://chem.libretexts.org/Bookshelves/Physical_and_Theoretical_Chemistry_Textbook_Maps/Supplemental_Modules_%28Physical_and_Theoretical_Chemistry%29/Spectroscopy/Rotational_Spectroscopy/Rovibrational_Spectroscopy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IR activity and rovibrational transitions overview: https://en.wikipedia.org/wiki/Rotational%E2%80%93vibrational_spectroscopy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Rovibrational spectroscopy background (selection rules and energy spacing discussion): https://chem.libretexts.org/Bookshelves/Physical_and_Theoretical_Chemistry_Textbook_Maps/Supplemental_Modules_%28Physical_and_Theoretical_Chemistry%29/Spectroscopy/Rotational_Spectroscopy/Rovibrational_Spectroscopy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Rigid rotor energy levels and relation to moment of inertia: https://vallance.chem.ox.ac.uk/pdfs/MolecularEnergyLevelsNotes.pdf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P/R branch definition and ΔJ selection rules: https://chem.libretexts.org/Bookshelves/Physical_and_Theoretical_Chemistry_Textbook_Maps/Supplemental_Modules_%28Physical_and_Theoretical_Chemistry%29/Spectroscopy/Rotational_Spectroscopy/Rovibrational_Spectroscopy
- Alternative concise statement of rovibrational selection rules: https://www2.sci.u-szeged.hu/physchem/indexh_html_files/FTIR_eng.pdf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Rovibrational constants including B_v = B_e - α_e(v+1/2): https://dpotoyan.github.io/Chem324/ch04/note04B.html
- Discussion of centrifugal distortion as bond stretching at high J: https://www.pci.tu-bs.de/aggericke/PC4e/Kap_III/Rot-Vib-Spektren.htm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Branch labeling and use of lower-state J for line labels: https://chem.libretexts.org/Bookshelves/Physical_and_Theoretical_Chemistry_Textbook_Maps/Supplemental_Modules_%28Physical_and_Theoretical_Chemistry%29/Spectroscopy/Rotational_Spectroscopy/Rovibrational_Spectroscopy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Rovibrational selection rules and branch structure overview (context for analysis pipeline): https://chem.libretexts.org/Bookshelves/Physical_and_Theoretical_Chemistry_Textbook_Maps/Supplemental_Modules_%28Physical_and_Theoretical_Chemistry%29/Spectroscopy/Rotational_Spectroscopy/Rovibrational_Spectroscopy
[/Sources]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Spectroscopy of HCl Gas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rovibrational lines → molecular constants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58140" y="2971061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6740" y="3153941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86740" y="3537989"/>
            <a:ext cx="3154680" cy="274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180" y="3702581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positions (P/R branches)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origin ν̃₀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0060" y="2971061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18660" y="3153941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18660" y="3537989"/>
            <a:ext cx="3154680" cy="274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0100" y="3702581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model in m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ν̃₀, B̃₀, B̃₁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1980" y="2971061"/>
            <a:ext cx="36118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50580" y="3153941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450580" y="3537989"/>
            <a:ext cx="3154680" cy="2743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2020" y="3702581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lengths r₀, r₁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Anharmonicity xₑ and D₀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653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analysis of a provided FTIR spectrum (HCl is corrosive — no handling in this session)</a:t>
            </a:r>
            <a:endParaRPr lang="en-US" sz="1200" dirty="0"/>
          </a:p>
        </p:txBody>
      </p:sp>
      <p:pic>
        <p:nvPicPr>
          <p:cNvPr id="19" name="Recording 2026-02-04 143955">
            <a:hlinkClick r:id="" action="ppaction://media"/>
            <a:extLst>
              <a:ext uri="{FF2B5EF4-FFF2-40B4-BE49-F238E27FC236}">
                <a16:creationId xmlns:a16="http://schemas.microsoft.com/office/drawing/2014/main" id="{D30CDEA8-D481-41CA-8B9F-8ADD734FC64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 rot="16200000">
            <a:off x="8669771" y="841248"/>
            <a:ext cx="1579025" cy="17865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53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picture: what IR rovibrational spectroscopy measures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parts of the EM spectrum probe different molecular motions: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89888"/>
            <a:ext cx="3520440" cy="960120"/>
          </a:xfrm>
          <a:prstGeom prst="rect">
            <a:avLst/>
          </a:prstGeom>
          <a:solidFill>
            <a:srgbClr val="C7D2FE"/>
          </a:solidFill>
          <a:ln>
            <a:solidFill>
              <a:srgbClr val="CBD5E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UV/Vis
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663440" y="1389888"/>
            <a:ext cx="3520440" cy="960120"/>
          </a:xfrm>
          <a:prstGeom prst="rect">
            <a:avLst/>
          </a:prstGeom>
          <a:solidFill>
            <a:srgbClr val="99F6E4"/>
          </a:solidFill>
          <a:ln>
            <a:solidFill>
              <a:srgbClr val="CBD5E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
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595360" y="1389888"/>
            <a:ext cx="3520440" cy="960120"/>
          </a:xfrm>
          <a:prstGeom prst="rect">
            <a:avLst/>
          </a:prstGeom>
          <a:solidFill>
            <a:srgbClr val="E0E7FF"/>
          </a:solidFill>
          <a:ln>
            <a:solidFill>
              <a:srgbClr val="CBD5E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
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rotational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5577840" cy="3566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788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3375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absorption excites vibration, and rotation comes along for the ride → a rovibrational band.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4343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IR-active requirement: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8006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permanent (or vibration-induced) dipole moment</a:t>
            </a:r>
          </a:p>
          <a:p>
            <a:pPr marL="228600" indent="-228600">
              <a:buSzPct val="100000"/>
              <a:buChar char="•"/>
            </a:pP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 is IR active. Why?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5532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molecular constants from line positions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2514600"/>
            <a:ext cx="49377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90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see (absorption spectrum)</a:t>
            </a:r>
            <a:endParaRPr lang="en-US" sz="1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EEC7214-864F-492D-B0A2-03D4220A34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04" r="823" b="14114"/>
          <a:stretch/>
        </p:blipFill>
        <p:spPr>
          <a:xfrm>
            <a:off x="6670040" y="3227832"/>
            <a:ext cx="4714240" cy="25001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harmonic oscillator (vibration)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IR excites vibration. In the harmonic model, level spacing is constant.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39496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34490" y="1984248"/>
            <a:ext cx="3634740" cy="59436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59824" y="2906649"/>
            <a:ext cx="1138351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382905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diatomic rovibrational band: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37260" y="48463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band is centered near the vibrational wavenumber</a:t>
            </a:r>
          </a:p>
          <a:p>
            <a:pPr marL="0" indent="0">
              <a:buNone/>
            </a:pPr>
            <a:endParaRPr lang="en-US" sz="16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fundamental band is </a:t>
            </a:r>
            <a:r>
              <a:rPr lang="el-GR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sz="16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+1</a:t>
            </a:r>
          </a:p>
          <a:p>
            <a:pPr marL="0" indent="0">
              <a:buNone/>
            </a:pPr>
            <a:endParaRPr lang="en-US" sz="1600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Spacing is nearly constant if harmonic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Rotational structure splits it into many lines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92240" y="1508760"/>
            <a:ext cx="49834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905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929B38-81C0-4D37-8364-95D88795DB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2299" y="2223172"/>
            <a:ext cx="3583361" cy="3646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rigid rotor (rotation)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rotation levels depend on the moment of inertia, so measuring B̃ gives bond length.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39496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E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0180" y="2289453"/>
            <a:ext cx="4023360" cy="548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0180" y="3383602"/>
            <a:ext cx="1659301" cy="70866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5901" y="3509332"/>
            <a:ext cx="1393371" cy="457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492240" y="1508760"/>
            <a:ext cx="49834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905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49EF631-DF68-4CF2-B227-6EF4C50B6C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2928" y="2264006"/>
            <a:ext cx="3762104" cy="383267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3D589F-E3DD-4FB1-94AF-9CBF24024467}"/>
              </a:ext>
            </a:extLst>
          </p:cNvPr>
          <p:cNvSpPr txBox="1"/>
          <p:nvPr/>
        </p:nvSpPr>
        <p:spPr>
          <a:xfrm>
            <a:off x="1002310" y="4864398"/>
            <a:ext cx="6100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Rotational spacing grows with </a:t>
            </a:r>
            <a:r>
              <a:rPr lang="en-US" sz="18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</a:p>
          <a:p>
            <a:endParaRPr lang="en-US" i="1" dirty="0">
              <a:solidFill>
                <a:srgbClr val="37415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8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Selection for </a:t>
            </a:r>
            <a:r>
              <a:rPr lang="el-GR" sz="18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±1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rules → P and R branches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1551247"/>
            <a:ext cx="5394960" cy="19659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band (dominant)
</a:t>
            </a: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= +1,  ΔJ = ±1
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branch:  ΔJ = +1  (m &gt; 0)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branch:  ΔJ = -1  (m &lt; 0)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92240" y="960120"/>
            <a:ext cx="498348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905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/mnt/data/lab2_spectrum.png"/>
          <p:cNvPicPr>
            <a:picLocks noChangeAspect="1"/>
          </p:cNvPicPr>
          <p:nvPr/>
        </p:nvPicPr>
        <p:blipFill rotWithShape="1">
          <a:blip r:embed="rId3"/>
          <a:srcRect l="1618" t="7819" r="22477" b="18336"/>
          <a:stretch/>
        </p:blipFill>
        <p:spPr>
          <a:xfrm>
            <a:off x="6854997" y="2064800"/>
            <a:ext cx="4478735" cy="2904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14389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origin ν̃₀ is at m = 0 (no Q-branch line)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50673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Intensities follow the Boltzmann population of the lower J levels.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used in the lab (and one we neglect)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5669280" cy="5623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143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improve the simplest model by adding: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Anharmonicity (spacing decreases with v)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Vibration–rotation coupling (B̃ decreases with v)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forms you will use: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005840" y="5028238"/>
            <a:ext cx="53035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34440" y="516539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neglect: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234440" y="543971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Centrifugal distortion (small at low–moderate J)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629400" y="960120"/>
            <a:ext cx="480060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905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391D30-DC5E-485C-B6F9-97914225D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327" y="2404687"/>
            <a:ext cx="3841610" cy="27751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58EE70-7D3C-4561-98C0-6028D33AB423}"/>
                  </a:ext>
                </a:extLst>
              </p:cNvPr>
              <p:cNvSpPr txBox="1"/>
              <p:nvPr/>
            </p:nvSpPr>
            <p:spPr>
              <a:xfrm>
                <a:off x="1289685" y="2816855"/>
                <a:ext cx="4203202" cy="725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58EE70-7D3C-4561-98C0-6028D33AB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685" y="2816855"/>
                <a:ext cx="4203202" cy="7250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B69610-F6B9-498D-BEB4-5B7D3520E3BF}"/>
                  </a:ext>
                </a:extLst>
              </p:cNvPr>
              <p:cNvSpPr txBox="1"/>
              <p:nvPr/>
            </p:nvSpPr>
            <p:spPr>
              <a:xfrm>
                <a:off x="1857085" y="3855392"/>
                <a:ext cx="3010568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h𝑐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~</m:t>
                              </m:r>
                            </m:sup>
                          </m:sSub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B69610-F6B9-498D-BEB4-5B7D3520E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085" y="3855392"/>
                <a:ext cx="3010568" cy="622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analysis: fit line positions in a single variable (m)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assign peaks, then fit ν̃ vs m to a quadratic.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0847" y="1417320"/>
            <a:ext cx="11430000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5167" y="1651768"/>
            <a:ext cx="10972800" cy="765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2880360"/>
            <a:ext cx="5669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05840" y="3063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definition (use lower-state J'')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4290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R(J''):   m = J'' + 1    (m = +1, +2, …)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P(J''):   m = −J''       (m = −1, −2, …)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5074920"/>
            <a:ext cx="5669280" cy="15087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52578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mix isotopologues in one fit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05840" y="55778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often appears as two close lines, why?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one series at a time (or fit both separately).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629400" y="2880360"/>
            <a:ext cx="4800600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2700" dir="27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705F13-D609-469B-8E2E-5CE5FA68522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64" t="1949" r="1220" b="14265"/>
          <a:stretch/>
        </p:blipFill>
        <p:spPr>
          <a:xfrm>
            <a:off x="6776027" y="3578144"/>
            <a:ext cx="4507345" cy="24264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from lines to structure and energetics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(everything comes from your fitted ν̃₀, B̃₀, B̃₁)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874520" cy="11430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peaks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(P/R branches)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500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line positions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984248"/>
            <a:ext cx="228600" cy="320040"/>
          </a:xfrm>
          <a:prstGeom prst="right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600200"/>
            <a:ext cx="1874520" cy="1143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 fit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ν̃(m)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23500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ν̃₀, B̃₀, B̃₁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984248"/>
            <a:ext cx="228600" cy="320040"/>
          </a:xfrm>
          <a:prstGeom prst="right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600200"/>
            <a:ext cx="1874520" cy="11430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lengths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r₀, r₁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23500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B̃ → I → 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1984248"/>
            <a:ext cx="228600" cy="320040"/>
          </a:xfrm>
          <a:prstGeom prst="right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600200"/>
            <a:ext cx="1874520" cy="1143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Anharmonicity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xₑ and ν̃ₑ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52360" y="23500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overtone info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1984248"/>
            <a:ext cx="228600" cy="320040"/>
          </a:xfrm>
          <a:prstGeom prst="rightArrow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1600200"/>
            <a:ext cx="1874520" cy="1143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17373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Dissociation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D₀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46920" y="235000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from xₑ, ν̃ₑ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80847" y="3035808"/>
            <a:ext cx="11430000" cy="3520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291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to keep you out of trouble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7123" y="3712464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AutoNum type="arabicParenR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consistent units (cm⁻¹ for ν̃ and B̃; convert to m⁻¹ only inside the r formula).</a:t>
            </a:r>
          </a:p>
          <a:p>
            <a:pPr marL="342900" indent="-342900">
              <a:buAutoNum type="arabicParenR"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   Report uncertainties or at least comment on fit residuals and which lines you trusted.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1164</Words>
  <Application>Microsoft Office PowerPoint</Application>
  <PresentationFormat>Widescreen</PresentationFormat>
  <Paragraphs>100</Paragraphs>
  <Slides>8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Buster Blomberg</cp:lastModifiedBy>
  <cp:revision>8</cp:revision>
  <dcterms:created xsi:type="dcterms:W3CDTF">2026-02-04T10:55:29Z</dcterms:created>
  <dcterms:modified xsi:type="dcterms:W3CDTF">2026-02-04T14:48:28Z</dcterms:modified>
</cp:coreProperties>
</file>